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6" r:id="rId12"/>
    <p:sldId id="267" r:id="rId13"/>
    <p:sldId id="268" r:id="rId14"/>
    <p:sldId id="264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F87"/>
    <a:srgbClr val="12C9A0"/>
    <a:srgbClr val="F0F1E5"/>
    <a:srgbClr val="015097"/>
    <a:srgbClr val="F0F1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59"/>
        <p:guide pos="384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8.svg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7.png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13840" y="1969135"/>
            <a:ext cx="9144000" cy="1204595"/>
          </a:xfrm>
        </p:spPr>
        <p:txBody>
          <a:bodyPr>
            <a:normAutofit fontScale="90000"/>
          </a:bodyPr>
          <a:lstStyle/>
          <a:p>
            <a:r>
              <a:rPr sz="4445">
                <a:solidFill>
                  <a:srgbClr val="F0F1E3"/>
                </a:solidFill>
                <a:latin typeface="Cascadia Code SemiBold" panose="020B0609020000020004" charset="0"/>
                <a:cs typeface="Cascadia Code SemiBold" panose="020B0609020000020004" charset="0"/>
                <a:sym typeface="+mn-ea"/>
              </a:rPr>
              <a:t>Система управління базою замовлення страв в ресторані</a:t>
            </a:r>
            <a:endParaRPr lang="en-US" altLang="en-US" sz="4445" dirty="0">
              <a:solidFill>
                <a:srgbClr val="F0F1E3"/>
              </a:solidFill>
              <a:latin typeface="Cascadia Code SemiBold" panose="020B0609020000020004" charset="0"/>
              <a:cs typeface="Cascadia Code SemiBold" panose="020B0609020000020004" charset="0"/>
              <a:sym typeface="+mn-ea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3840" y="3429000"/>
            <a:ext cx="9144000" cy="874395"/>
          </a:xfrm>
        </p:spPr>
        <p:txBody>
          <a:bodyPr>
            <a:normAutofit/>
          </a:bodyPr>
          <a:lstStyle/>
          <a:p>
            <a:r>
              <a:rPr lang="uk-UA" altLang="en-US">
                <a:solidFill>
                  <a:srgbClr val="F0F1E3"/>
                </a:solidFill>
              </a:rPr>
              <a:t>Курсовий проєкт з дисципліни </a:t>
            </a:r>
            <a:r>
              <a:rPr lang="en-US" altLang="en-US">
                <a:solidFill>
                  <a:srgbClr val="F0F1E3"/>
                </a:solidFill>
                <a:sym typeface="+mn-ea"/>
              </a:rPr>
              <a:t>Структури даних, алгоритми та об’єктно-орієнтована парадигма</a:t>
            </a:r>
            <a:endParaRPr lang="en-US" altLang="en-US">
              <a:solidFill>
                <a:srgbClr val="F0F1E3"/>
              </a:solidFill>
              <a:sym typeface="+mn-ea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2094230" y="4790440"/>
            <a:ext cx="8573770" cy="6769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uk-UA" altLang="en-US">
                <a:solidFill>
                  <a:srgbClr val="F0F1E3"/>
                </a:solidFill>
              </a:rPr>
              <a:t>Виконавець: Малофій А.Е.</a:t>
            </a:r>
            <a:endParaRPr lang="en-US" altLang="en-US">
              <a:solidFill>
                <a:srgbClr val="F0F1E3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6110" y="310515"/>
            <a:ext cx="5106670" cy="543560"/>
          </a:xfrm>
        </p:spPr>
        <p:txBody>
          <a:bodyPr>
            <a:normAutofit fontScale="90000"/>
          </a:bodyPr>
          <a:p>
            <a:r>
              <a:rPr lang="uk-UA" altLang="en-US" b="1">
                <a:solidFill>
                  <a:srgbClr val="004F87"/>
                </a:solidFill>
              </a:rPr>
              <a:t>Мета </a:t>
            </a:r>
            <a:endParaRPr lang="uk-UA" altLang="en-US" b="1">
              <a:solidFill>
                <a:srgbClr val="004F87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462915" y="854075"/>
            <a:ext cx="11282045" cy="647700"/>
          </a:xfrm>
          <a:custGeom>
            <a:avLst/>
            <a:gdLst/>
            <a:ahLst/>
            <a:cxnLst/>
            <a:rect l="l" t="t" r="r" b="b"/>
            <a:pathLst>
              <a:path w="18298160">
                <a:moveTo>
                  <a:pt x="0" y="0"/>
                </a:moveTo>
                <a:lnTo>
                  <a:pt x="18297873" y="0"/>
                </a:lnTo>
              </a:path>
            </a:pathLst>
          </a:custGeom>
          <a:ln w="62825">
            <a:solidFill>
              <a:srgbClr val="0150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777875" y="1114425"/>
            <a:ext cx="10467975" cy="1687195"/>
          </a:xfrm>
          <a:prstGeom prst="roundRect">
            <a:avLst/>
          </a:prstGeom>
          <a:solidFill>
            <a:srgbClr val="015097"/>
          </a:solidFill>
          <a:ln>
            <a:solidFill>
              <a:srgbClr val="0150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sz="2000">
                <a:solidFill>
                  <a:srgbClr val="F0F1E5"/>
                </a:solidFill>
                <a:sym typeface="+mn-ea"/>
              </a:rPr>
              <a:t>Розробка консольної інформаційної системи для адміністрування електронного меню, автентифікації користувачів та гнучкого формування замовлень.</a:t>
            </a:r>
            <a:endParaRPr lang="uk-UA" sz="2000">
              <a:solidFill>
                <a:srgbClr val="F0F1E5"/>
              </a:solidFill>
              <a:sym typeface="+mn-ea"/>
            </a:endParaRPr>
          </a:p>
        </p:txBody>
      </p:sp>
      <p:sp>
        <p:nvSpPr>
          <p:cNvPr id="20" name="Title 1"/>
          <p:cNvSpPr>
            <a:spLocks noGrp="1"/>
          </p:cNvSpPr>
          <p:nvPr/>
        </p:nvSpPr>
        <p:spPr>
          <a:xfrm>
            <a:off x="777875" y="3084195"/>
            <a:ext cx="10967085" cy="5435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uk-UA" altLang="en-US" sz="3900" b="1">
                <a:solidFill>
                  <a:srgbClr val="004F87"/>
                </a:solidFill>
                <a:sym typeface="+mn-ea"/>
              </a:rPr>
              <a:t>Основні завдання</a:t>
            </a:r>
            <a:endParaRPr lang="uk-UA" altLang="en-US" sz="3900" b="1">
              <a:solidFill>
                <a:srgbClr val="004F87"/>
              </a:solidFill>
              <a:sym typeface="+mn-ea"/>
            </a:endParaRPr>
          </a:p>
        </p:txBody>
      </p:sp>
      <p:sp>
        <p:nvSpPr>
          <p:cNvPr id="21" name="object 9"/>
          <p:cNvSpPr/>
          <p:nvPr/>
        </p:nvSpPr>
        <p:spPr>
          <a:xfrm>
            <a:off x="626110" y="3720465"/>
            <a:ext cx="11118850" cy="647700"/>
          </a:xfrm>
          <a:custGeom>
            <a:avLst/>
            <a:gdLst/>
            <a:ahLst/>
            <a:cxnLst/>
            <a:rect l="l" t="t" r="r" b="b"/>
            <a:pathLst>
              <a:path w="18298160">
                <a:moveTo>
                  <a:pt x="0" y="0"/>
                </a:moveTo>
                <a:lnTo>
                  <a:pt x="18297873" y="0"/>
                </a:lnTo>
              </a:path>
            </a:pathLst>
          </a:custGeom>
          <a:ln w="62825">
            <a:solidFill>
              <a:srgbClr val="0150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117840" y="4057015"/>
            <a:ext cx="3542665" cy="2340610"/>
          </a:xfrm>
          <a:prstGeom prst="roundRect">
            <a:avLst/>
          </a:prstGeom>
          <a:solidFill>
            <a:srgbClr val="015097"/>
          </a:solidFill>
          <a:ln>
            <a:solidFill>
              <a:srgbClr val="0150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2000">
                <a:solidFill>
                  <a:srgbClr val="F0F1E5"/>
                </a:solidFill>
                <a:sym typeface="+mn-ea"/>
              </a:rPr>
              <a:t>Забезпечення стійкості застосунку до некоректного користувацького введення за допомогою централізованої обробки виключних ситуацій.</a:t>
            </a:r>
            <a:endParaRPr lang="en-US" altLang="en-US" sz="2000">
              <a:solidFill>
                <a:srgbClr val="F0F1E5"/>
              </a:solidFill>
              <a:sym typeface="+mn-ea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4447540" y="4057015"/>
            <a:ext cx="3542665" cy="2340610"/>
          </a:xfrm>
          <a:prstGeom prst="roundRect">
            <a:avLst/>
          </a:prstGeom>
          <a:solidFill>
            <a:srgbClr val="015097"/>
          </a:solidFill>
          <a:ln>
            <a:solidFill>
              <a:srgbClr val="0150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2000">
                <a:solidFill>
                  <a:srgbClr val="F0F1E5"/>
                </a:solidFill>
                <a:sym typeface="+mn-ea"/>
              </a:rPr>
              <a:t>Реалізація надійного механізму серіалізації та десеріалізації даних у файлові сховища формату CSV.</a:t>
            </a:r>
            <a:endParaRPr lang="en-US" altLang="en-US" sz="2000">
              <a:solidFill>
                <a:srgbClr val="F0F1E5"/>
              </a:solidFill>
              <a:sym typeface="+mn-ea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777875" y="4057015"/>
            <a:ext cx="3542665" cy="2340610"/>
          </a:xfrm>
          <a:prstGeom prst="roundRect">
            <a:avLst/>
          </a:prstGeom>
          <a:solidFill>
            <a:srgbClr val="015097"/>
          </a:solidFill>
          <a:ln>
            <a:solidFill>
              <a:srgbClr val="0150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2000">
                <a:solidFill>
                  <a:srgbClr val="F0F1E5"/>
                </a:solidFill>
                <a:sym typeface="+mn-ea"/>
              </a:rPr>
              <a:t>Побудова масштабованої ієрархії класів із застосуванням концепцій динамічного поліморфізму та інкапсуляції</a:t>
            </a:r>
            <a:endParaRPr lang="en-US" altLang="en-US" sz="2000">
              <a:solidFill>
                <a:srgbClr val="F0F1E5"/>
              </a:solidFill>
              <a:sym typeface="+mn-ea"/>
            </a:endParaRPr>
          </a:p>
        </p:txBody>
      </p:sp>
      <p:sp>
        <p:nvSpPr>
          <p:cNvPr id="28" name="Text Box 27"/>
          <p:cNvSpPr txBox="1"/>
          <p:nvPr/>
        </p:nvSpPr>
        <p:spPr>
          <a:xfrm>
            <a:off x="4672965" y="33439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39695" y="365125"/>
            <a:ext cx="8714105" cy="543560"/>
          </a:xfrm>
        </p:spPr>
        <p:txBody>
          <a:bodyPr>
            <a:normAutofit fontScale="90000"/>
          </a:bodyPr>
          <a:p>
            <a:r>
              <a:rPr lang="en-US" altLang="en-US" b="1">
                <a:solidFill>
                  <a:srgbClr val="004F87"/>
                </a:solidFill>
              </a:rPr>
              <a:t>Інструментальні засоби розробки</a:t>
            </a:r>
            <a:endParaRPr lang="en-US" altLang="en-US" b="1">
              <a:solidFill>
                <a:srgbClr val="004F87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462915" y="1043305"/>
            <a:ext cx="11282045" cy="647700"/>
          </a:xfrm>
          <a:custGeom>
            <a:avLst/>
            <a:gdLst/>
            <a:ahLst/>
            <a:cxnLst/>
            <a:rect l="l" t="t" r="r" b="b"/>
            <a:pathLst>
              <a:path w="18298160">
                <a:moveTo>
                  <a:pt x="0" y="0"/>
                </a:moveTo>
                <a:lnTo>
                  <a:pt x="18297873" y="0"/>
                </a:lnTo>
              </a:path>
            </a:pathLst>
          </a:custGeom>
          <a:ln w="62825">
            <a:solidFill>
              <a:srgbClr val="0150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Diamond 12"/>
          <p:cNvSpPr/>
          <p:nvPr/>
        </p:nvSpPr>
        <p:spPr>
          <a:xfrm>
            <a:off x="1083310" y="1691005"/>
            <a:ext cx="1858010" cy="1844040"/>
          </a:xfrm>
          <a:prstGeom prst="diamond">
            <a:avLst/>
          </a:prstGeom>
          <a:solidFill>
            <a:srgbClr val="F0F1E5"/>
          </a:solidFill>
          <a:ln w="76200">
            <a:solidFill>
              <a:srgbClr val="0150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14" name="Picture 13" descr="ISO_C++_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6235" y="2164080"/>
            <a:ext cx="772795" cy="869950"/>
          </a:xfrm>
          <a:prstGeom prst="rect">
            <a:avLst/>
          </a:prstGeom>
        </p:spPr>
      </p:pic>
      <p:sp>
        <p:nvSpPr>
          <p:cNvPr id="15" name="Diamond 14"/>
          <p:cNvSpPr/>
          <p:nvPr/>
        </p:nvSpPr>
        <p:spPr>
          <a:xfrm>
            <a:off x="3824605" y="4084320"/>
            <a:ext cx="1858010" cy="1844040"/>
          </a:xfrm>
          <a:prstGeom prst="diamond">
            <a:avLst/>
          </a:prstGeom>
          <a:solidFill>
            <a:srgbClr val="F0F1E5"/>
          </a:solidFill>
          <a:ln w="76200">
            <a:solidFill>
              <a:srgbClr val="0150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8" name="Picture 7" descr="Visual_Studio_Icon_2022.sv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7035" y="4558030"/>
            <a:ext cx="1045210" cy="882015"/>
          </a:xfrm>
          <a:prstGeom prst="rect">
            <a:avLst/>
          </a:prstGeom>
        </p:spPr>
      </p:pic>
      <p:sp>
        <p:nvSpPr>
          <p:cNvPr id="16" name="Diamond 15"/>
          <p:cNvSpPr/>
          <p:nvPr/>
        </p:nvSpPr>
        <p:spPr>
          <a:xfrm>
            <a:off x="6565900" y="1677035"/>
            <a:ext cx="1858010" cy="1844040"/>
          </a:xfrm>
          <a:prstGeom prst="diamond">
            <a:avLst/>
          </a:prstGeom>
          <a:solidFill>
            <a:srgbClr val="F0F1E5"/>
          </a:solidFill>
          <a:ln w="76200">
            <a:solidFill>
              <a:srgbClr val="0150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uk-UA" altLang="en-US"/>
              <a:t>ів</a:t>
            </a:r>
            <a:endParaRPr lang="uk-UA" altLang="en-US"/>
          </a:p>
        </p:txBody>
      </p:sp>
      <p:sp>
        <p:nvSpPr>
          <p:cNvPr id="19" name="Diamond 18"/>
          <p:cNvSpPr/>
          <p:nvPr/>
        </p:nvSpPr>
        <p:spPr>
          <a:xfrm>
            <a:off x="9307195" y="4084320"/>
            <a:ext cx="1858010" cy="1844040"/>
          </a:xfrm>
          <a:prstGeom prst="diamond">
            <a:avLst/>
          </a:prstGeom>
          <a:solidFill>
            <a:srgbClr val="F0F1E5"/>
          </a:solidFill>
          <a:ln w="76200">
            <a:solidFill>
              <a:srgbClr val="0150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uk-UA" altLang="en-US"/>
          </a:p>
        </p:txBody>
      </p:sp>
      <p:pic>
        <p:nvPicPr>
          <p:cNvPr id="5" name="Picture 4" descr="doxygen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80530" y="2382520"/>
            <a:ext cx="1405255" cy="419100"/>
          </a:xfrm>
          <a:prstGeom prst="rect">
            <a:avLst/>
          </a:prstGeom>
        </p:spPr>
      </p:pic>
      <p:pic>
        <p:nvPicPr>
          <p:cNvPr id="7" name="Picture 6" descr="CMake-Logo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18345" y="4765675"/>
            <a:ext cx="1308735" cy="369570"/>
          </a:xfrm>
          <a:prstGeom prst="rect">
            <a:avLst/>
          </a:prstGeom>
        </p:spPr>
      </p:pic>
      <p:sp>
        <p:nvSpPr>
          <p:cNvPr id="20" name="Text Box 19"/>
          <p:cNvSpPr txBox="1"/>
          <p:nvPr/>
        </p:nvSpPr>
        <p:spPr>
          <a:xfrm>
            <a:off x="674370" y="5624195"/>
            <a:ext cx="2675255" cy="7067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en-US">
              <a:solidFill>
                <a:srgbClr val="004F87"/>
              </a:solidFill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843915" y="3723005"/>
            <a:ext cx="2336800" cy="2205355"/>
          </a:xfrm>
          <a:prstGeom prst="roundRect">
            <a:avLst/>
          </a:prstGeom>
          <a:solidFill>
            <a:srgbClr val="015097"/>
          </a:solidFill>
          <a:ln>
            <a:solidFill>
              <a:srgbClr val="0150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2000" b="1">
                <a:solidFill>
                  <a:srgbClr val="F0F1E5"/>
                </a:solidFill>
                <a:sym typeface="+mn-ea"/>
              </a:rPr>
              <a:t>C++ (C++20)</a:t>
            </a:r>
            <a:r>
              <a:rPr lang="en-US" altLang="en-US" sz="2000">
                <a:solidFill>
                  <a:srgbClr val="F0F1E5"/>
                </a:solidFill>
                <a:sym typeface="+mn-ea"/>
              </a:rPr>
              <a:t> — об'єктно-орієнтоване програмування</a:t>
            </a:r>
            <a:endParaRPr lang="en-US" altLang="en-US" sz="2000">
              <a:solidFill>
                <a:srgbClr val="F0F1E5"/>
              </a:solidFill>
              <a:sym typeface="+mn-ea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585210" y="1677035"/>
            <a:ext cx="2336800" cy="2205355"/>
          </a:xfrm>
          <a:prstGeom prst="roundRect">
            <a:avLst/>
          </a:prstGeom>
          <a:solidFill>
            <a:srgbClr val="015097"/>
          </a:solidFill>
          <a:ln>
            <a:solidFill>
              <a:srgbClr val="0150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b="1">
                <a:solidFill>
                  <a:srgbClr val="F0F1E5"/>
                </a:solidFill>
                <a:sym typeface="+mn-ea"/>
              </a:rPr>
              <a:t>MS Visual Studio</a:t>
            </a:r>
            <a:r>
              <a:rPr lang="en-US" altLang="en-US">
                <a:solidFill>
                  <a:srgbClr val="F0F1E5"/>
                </a:solidFill>
                <a:sym typeface="+mn-ea"/>
              </a:rPr>
              <a:t> — середовище розробки та дебаг під Windows</a:t>
            </a:r>
            <a:endParaRPr lang="en-US" altLang="en-US">
              <a:solidFill>
                <a:srgbClr val="F0F1E5"/>
              </a:solidFill>
              <a:sym typeface="+mn-ea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326505" y="3723005"/>
            <a:ext cx="2336800" cy="2205355"/>
          </a:xfrm>
          <a:prstGeom prst="roundRect">
            <a:avLst/>
          </a:prstGeom>
          <a:solidFill>
            <a:srgbClr val="015097"/>
          </a:solidFill>
          <a:ln>
            <a:solidFill>
              <a:srgbClr val="0150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2000" b="1">
                <a:solidFill>
                  <a:srgbClr val="F0F1E5"/>
                </a:solidFill>
                <a:sym typeface="+mn-ea"/>
              </a:rPr>
              <a:t>Doxygen</a:t>
            </a:r>
            <a:r>
              <a:rPr lang="en-US" altLang="en-US" sz="2000">
                <a:solidFill>
                  <a:srgbClr val="F0F1E5"/>
                </a:solidFill>
                <a:sym typeface="+mn-ea"/>
              </a:rPr>
              <a:t> — автоматична генерація документації коду</a:t>
            </a:r>
            <a:endParaRPr lang="en-US" altLang="en-US" sz="2000">
              <a:solidFill>
                <a:srgbClr val="F0F1E5"/>
              </a:solidFill>
              <a:sym typeface="+mn-ea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9067800" y="1691005"/>
            <a:ext cx="2336800" cy="2205355"/>
          </a:xfrm>
          <a:prstGeom prst="roundRect">
            <a:avLst/>
          </a:prstGeom>
          <a:solidFill>
            <a:srgbClr val="015097"/>
          </a:solidFill>
          <a:ln>
            <a:solidFill>
              <a:srgbClr val="0150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b="1">
                <a:solidFill>
                  <a:srgbClr val="F0F1E5"/>
                </a:solidFill>
                <a:sym typeface="+mn-ea"/>
              </a:rPr>
              <a:t>CMake</a:t>
            </a:r>
            <a:r>
              <a:rPr lang="en-US" altLang="en-US">
                <a:solidFill>
                  <a:srgbClr val="F0F1E5"/>
                </a:solidFill>
                <a:sym typeface="+mn-ea"/>
              </a:rPr>
              <a:t> — автоматизація збірки та керування структурою</a:t>
            </a:r>
            <a:endParaRPr lang="en-US" altLang="en-US">
              <a:solidFill>
                <a:srgbClr val="F0F1E5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9" name="object 9"/>
          <p:cNvSpPr/>
          <p:nvPr/>
        </p:nvSpPr>
        <p:spPr>
          <a:xfrm>
            <a:off x="462915" y="1043305"/>
            <a:ext cx="11282045" cy="647700"/>
          </a:xfrm>
          <a:custGeom>
            <a:avLst/>
            <a:gdLst/>
            <a:ahLst/>
            <a:cxnLst/>
            <a:rect l="l" t="t" r="r" b="b"/>
            <a:pathLst>
              <a:path w="18298160">
                <a:moveTo>
                  <a:pt x="0" y="0"/>
                </a:moveTo>
                <a:lnTo>
                  <a:pt x="18297873" y="0"/>
                </a:lnTo>
              </a:path>
            </a:pathLst>
          </a:custGeom>
          <a:ln w="62825">
            <a:solidFill>
              <a:srgbClr val="0150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62915" y="365125"/>
            <a:ext cx="11281410" cy="543560"/>
          </a:xfrm>
        </p:spPr>
        <p:txBody>
          <a:bodyPr>
            <a:normAutofit fontScale="90000"/>
          </a:bodyPr>
          <a:p>
            <a:pPr algn="ctr"/>
            <a:r>
              <a:rPr lang="en-US" altLang="en-US" b="1">
                <a:solidFill>
                  <a:srgbClr val="004F87"/>
                </a:solidFill>
              </a:rPr>
              <a:t>Перелік сценаріїв використання програми</a:t>
            </a:r>
            <a:endParaRPr lang="en-US" altLang="en-US" b="1">
              <a:solidFill>
                <a:srgbClr val="004F87"/>
              </a:solidFill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62915" y="1312545"/>
            <a:ext cx="4998085" cy="2340610"/>
          </a:xfrm>
          <a:prstGeom prst="roundRect">
            <a:avLst/>
          </a:prstGeom>
          <a:solidFill>
            <a:srgbClr val="015097"/>
          </a:solidFill>
          <a:ln>
            <a:solidFill>
              <a:srgbClr val="0150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0"/>
          <a:p>
            <a:pPr algn="ctr"/>
            <a:r>
              <a:rPr lang="uk-UA" altLang="en-US" sz="2400" b="1">
                <a:solidFill>
                  <a:srgbClr val="F0F1E5"/>
                </a:solidFill>
                <a:sym typeface="+mn-ea"/>
              </a:rPr>
              <a:t>Сценарій 1</a:t>
            </a:r>
            <a:endParaRPr lang="uk-UA" altLang="en-US" sz="2400" b="1">
              <a:solidFill>
                <a:srgbClr val="F0F1E5"/>
              </a:solidFill>
              <a:sym typeface="+mn-ea"/>
            </a:endParaRPr>
          </a:p>
          <a:p>
            <a:pPr algn="ctr"/>
            <a:endParaRPr lang="uk-UA" altLang="en-US" sz="2000" b="1">
              <a:solidFill>
                <a:srgbClr val="F0F1E5"/>
              </a:solidFill>
              <a:sym typeface="+mn-ea"/>
            </a:endParaRPr>
          </a:p>
          <a:p>
            <a:pPr algn="ctr"/>
            <a:r>
              <a:rPr lang="en-US" altLang="en-US" sz="2000">
                <a:solidFill>
                  <a:srgbClr val="F0F1E5"/>
                </a:solidFill>
                <a:sym typeface="+mn-ea"/>
              </a:rPr>
              <a:t>Автентифікація в системі та реєстрація нових облікових записів користувачів із автоматичним визначенням ролі доступу.</a:t>
            </a:r>
            <a:endParaRPr lang="en-US" altLang="en-US" sz="2000">
              <a:solidFill>
                <a:srgbClr val="F0F1E5"/>
              </a:solidFill>
              <a:sym typeface="+mn-ea"/>
            </a:endParaRPr>
          </a:p>
          <a:p>
            <a:pPr algn="ctr"/>
            <a:endParaRPr lang="en-US" altLang="en-US" sz="2000">
              <a:solidFill>
                <a:srgbClr val="F0F1E5"/>
              </a:solidFill>
              <a:sym typeface="+mn-ea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746240" y="1312545"/>
            <a:ext cx="4998085" cy="2340610"/>
          </a:xfrm>
          <a:prstGeom prst="roundRect">
            <a:avLst/>
          </a:prstGeom>
          <a:solidFill>
            <a:srgbClr val="015097"/>
          </a:solidFill>
          <a:ln>
            <a:solidFill>
              <a:srgbClr val="0150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uk-UA" altLang="en-US" sz="2400" b="1">
                <a:solidFill>
                  <a:srgbClr val="F0F1E5"/>
                </a:solidFill>
                <a:sym typeface="+mn-ea"/>
              </a:rPr>
              <a:t>Сценарій 2</a:t>
            </a:r>
            <a:endParaRPr lang="uk-UA" altLang="en-US" sz="2400" b="1">
              <a:solidFill>
                <a:srgbClr val="F0F1E5"/>
              </a:solidFill>
              <a:sym typeface="+mn-ea"/>
            </a:endParaRPr>
          </a:p>
          <a:p>
            <a:pPr algn="ctr"/>
            <a:endParaRPr lang="uk-UA" altLang="en-US" sz="2000" b="1">
              <a:solidFill>
                <a:srgbClr val="F0F1E5"/>
              </a:solidFill>
              <a:sym typeface="+mn-ea"/>
            </a:endParaRPr>
          </a:p>
          <a:p>
            <a:pPr algn="ctr"/>
            <a:r>
              <a:rPr lang="en-US" altLang="en-US" sz="2000">
                <a:solidFill>
                  <a:srgbClr val="F0F1E5"/>
                </a:solidFill>
                <a:sym typeface="+mn-ea"/>
              </a:rPr>
              <a:t>Адміністрування електронної бази даних меню (додавання, каскадне редагування та видалення позицій).</a:t>
            </a:r>
            <a:endParaRPr lang="en-US" altLang="en-US" sz="2000">
              <a:solidFill>
                <a:srgbClr val="F0F1E5"/>
              </a:solidFill>
              <a:sym typeface="+mn-ea"/>
            </a:endParaRPr>
          </a:p>
          <a:p>
            <a:pPr algn="ctr"/>
            <a:endParaRPr lang="en-US" altLang="en-US" sz="2000">
              <a:solidFill>
                <a:srgbClr val="F0F1E5"/>
              </a:solidFill>
              <a:sym typeface="+mn-ea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746875" y="4057015"/>
            <a:ext cx="4998085" cy="2340610"/>
          </a:xfrm>
          <a:prstGeom prst="roundRect">
            <a:avLst/>
          </a:prstGeom>
          <a:solidFill>
            <a:srgbClr val="015097"/>
          </a:solidFill>
          <a:ln>
            <a:solidFill>
              <a:srgbClr val="0150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uk-UA" altLang="en-US" sz="2400" b="1">
                <a:solidFill>
                  <a:srgbClr val="F0F1E5"/>
                </a:solidFill>
                <a:sym typeface="+mn-ea"/>
              </a:rPr>
              <a:t>Сценарій 4</a:t>
            </a:r>
            <a:endParaRPr lang="uk-UA" altLang="en-US" sz="2400" b="1">
              <a:solidFill>
                <a:srgbClr val="F0F1E5"/>
              </a:solidFill>
              <a:sym typeface="+mn-ea"/>
            </a:endParaRPr>
          </a:p>
          <a:p>
            <a:pPr algn="ctr"/>
            <a:endParaRPr lang="uk-UA" altLang="en-US" sz="2000" b="1">
              <a:solidFill>
                <a:srgbClr val="F0F1E5"/>
              </a:solidFill>
              <a:sym typeface="+mn-ea"/>
            </a:endParaRPr>
          </a:p>
          <a:p>
            <a:pPr algn="ctr"/>
            <a:r>
              <a:rPr lang="en-US" altLang="en-US" sz="2000">
                <a:solidFill>
                  <a:srgbClr val="F0F1E5"/>
                </a:solidFill>
                <a:sym typeface="+mn-ea"/>
              </a:rPr>
              <a:t>Взаємодія клієнта з меню (регістронезалежний пошук, сортування за ціною, формування кошика та отримання фіскального чека).</a:t>
            </a:r>
            <a:endParaRPr lang="en-US" altLang="en-US" sz="2000">
              <a:solidFill>
                <a:srgbClr val="F0F1E5"/>
              </a:solidFill>
              <a:sym typeface="+mn-ea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62915" y="4057015"/>
            <a:ext cx="4998085" cy="2340610"/>
          </a:xfrm>
          <a:prstGeom prst="roundRect">
            <a:avLst/>
          </a:prstGeom>
          <a:solidFill>
            <a:srgbClr val="015097"/>
          </a:solidFill>
          <a:ln>
            <a:solidFill>
              <a:srgbClr val="0150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uk-UA" altLang="en-US" sz="2400" b="1">
                <a:solidFill>
                  <a:srgbClr val="F0F1E5"/>
                </a:solidFill>
                <a:sym typeface="+mn-ea"/>
              </a:rPr>
              <a:t>Сценарій 3</a:t>
            </a:r>
            <a:endParaRPr lang="uk-UA" altLang="en-US" sz="2400" b="1">
              <a:solidFill>
                <a:srgbClr val="F0F1E5"/>
              </a:solidFill>
              <a:sym typeface="+mn-ea"/>
            </a:endParaRPr>
          </a:p>
          <a:p>
            <a:pPr algn="ctr"/>
            <a:endParaRPr lang="uk-UA" altLang="en-US" sz="2000" b="1">
              <a:solidFill>
                <a:srgbClr val="F0F1E5"/>
              </a:solidFill>
              <a:sym typeface="+mn-ea"/>
            </a:endParaRPr>
          </a:p>
          <a:p>
            <a:pPr algn="ctr"/>
            <a:r>
              <a:rPr lang="en-US" altLang="en-US" sz="2000">
                <a:solidFill>
                  <a:srgbClr val="F0F1E5"/>
                </a:solidFill>
                <a:sym typeface="+mn-ea"/>
              </a:rPr>
              <a:t>Управління обліковими записами персоналу (перегляд списку користувачів та захищене видалення акаунтів)</a:t>
            </a:r>
            <a:endParaRPr lang="en-US" altLang="en-US" sz="2000">
              <a:solidFill>
                <a:srgbClr val="F0F1E5"/>
              </a:solidFill>
              <a:sym typeface="+mn-ea"/>
            </a:endParaRPr>
          </a:p>
          <a:p>
            <a:pPr algn="ctr"/>
            <a:endParaRPr lang="en-US" altLang="en-US" sz="2000">
              <a:solidFill>
                <a:srgbClr val="F0F1E5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9" name="object 9"/>
          <p:cNvSpPr/>
          <p:nvPr/>
        </p:nvSpPr>
        <p:spPr>
          <a:xfrm>
            <a:off x="462915" y="1043305"/>
            <a:ext cx="11282045" cy="647700"/>
          </a:xfrm>
          <a:custGeom>
            <a:avLst/>
            <a:gdLst/>
            <a:ahLst/>
            <a:cxnLst/>
            <a:rect l="l" t="t" r="r" b="b"/>
            <a:pathLst>
              <a:path w="18298160">
                <a:moveTo>
                  <a:pt x="0" y="0"/>
                </a:moveTo>
                <a:lnTo>
                  <a:pt x="18297873" y="0"/>
                </a:lnTo>
              </a:path>
            </a:pathLst>
          </a:custGeom>
          <a:ln w="62825">
            <a:solidFill>
              <a:srgbClr val="0150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Title 5"/>
          <p:cNvSpPr>
            <a:spLocks noGrp="1"/>
          </p:cNvSpPr>
          <p:nvPr/>
        </p:nvSpPr>
        <p:spPr>
          <a:xfrm>
            <a:off x="462915" y="365125"/>
            <a:ext cx="11281410" cy="5435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sz="3900" b="1">
                <a:solidFill>
                  <a:srgbClr val="004F87"/>
                </a:solidFill>
              </a:rPr>
              <a:t>Блок-схеми основних алгоритмів</a:t>
            </a:r>
            <a:endParaRPr lang="en-US" altLang="en-US" sz="3900" b="1">
              <a:solidFill>
                <a:srgbClr val="004F87"/>
              </a:solidFill>
            </a:endParaRPr>
          </a:p>
        </p:txBody>
      </p:sp>
      <p:pic>
        <p:nvPicPr>
          <p:cNvPr id="7" name="Picture 6" descr="mermaid-diagram-2026-05-20-1127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915" y="1406525"/>
            <a:ext cx="2848610" cy="4388485"/>
          </a:xfrm>
          <a:prstGeom prst="rect">
            <a:avLst/>
          </a:prstGeom>
        </p:spPr>
      </p:pic>
      <p:pic>
        <p:nvPicPr>
          <p:cNvPr id="8" name="Picture 7" descr="mermaid-diagram-2026-05-20-112820(2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5445" y="1406525"/>
            <a:ext cx="3488055" cy="4381500"/>
          </a:xfrm>
          <a:prstGeom prst="rect">
            <a:avLst/>
          </a:prstGeom>
        </p:spPr>
      </p:pic>
      <p:pic>
        <p:nvPicPr>
          <p:cNvPr id="10" name="Picture 9" descr="mermaid-diagram-2026-05-20-11285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7420" y="1406525"/>
            <a:ext cx="2945765" cy="4342130"/>
          </a:xfrm>
          <a:prstGeom prst="rect">
            <a:avLst/>
          </a:prstGeom>
        </p:spPr>
      </p:pic>
      <p:sp>
        <p:nvSpPr>
          <p:cNvPr id="11" name="Text Box 10"/>
          <p:cNvSpPr txBox="1"/>
          <p:nvPr/>
        </p:nvSpPr>
        <p:spPr>
          <a:xfrm>
            <a:off x="431800" y="5967095"/>
            <a:ext cx="28873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>
                <a:solidFill>
                  <a:srgbClr val="004F87"/>
                </a:solidFill>
              </a:rPr>
              <a:t>Алгоритм автентифікації користувача</a:t>
            </a:r>
            <a:endParaRPr lang="en-US" altLang="en-US">
              <a:solidFill>
                <a:srgbClr val="004F87"/>
              </a:solidFill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4002405" y="5967095"/>
            <a:ext cx="37515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>
                <a:solidFill>
                  <a:srgbClr val="004F87"/>
                </a:solidFill>
              </a:rPr>
              <a:t>Алгоритм додавання до замовлення (з використанням RTTI)</a:t>
            </a:r>
            <a:endParaRPr lang="en-US" altLang="en-US">
              <a:solidFill>
                <a:srgbClr val="004F87"/>
              </a:solidFill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8418195" y="5967095"/>
            <a:ext cx="30981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>
                <a:solidFill>
                  <a:srgbClr val="004F87"/>
                </a:solidFill>
              </a:rPr>
              <a:t>Алгоритм безпечного редагування запису (CRUD)</a:t>
            </a:r>
            <a:endParaRPr lang="en-US" altLang="en-US">
              <a:solidFill>
                <a:srgbClr val="004F87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9" name="object 9"/>
          <p:cNvSpPr/>
          <p:nvPr/>
        </p:nvSpPr>
        <p:spPr>
          <a:xfrm>
            <a:off x="462915" y="895985"/>
            <a:ext cx="11282045" cy="647700"/>
          </a:xfrm>
          <a:custGeom>
            <a:avLst/>
            <a:gdLst/>
            <a:ahLst/>
            <a:cxnLst/>
            <a:rect l="l" t="t" r="r" b="b"/>
            <a:pathLst>
              <a:path w="18298160">
                <a:moveTo>
                  <a:pt x="0" y="0"/>
                </a:moveTo>
                <a:lnTo>
                  <a:pt x="18297873" y="0"/>
                </a:lnTo>
              </a:path>
            </a:pathLst>
          </a:custGeom>
          <a:ln w="62825">
            <a:solidFill>
              <a:srgbClr val="0150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Title 5"/>
          <p:cNvSpPr>
            <a:spLocks noGrp="1"/>
          </p:cNvSpPr>
          <p:nvPr/>
        </p:nvSpPr>
        <p:spPr>
          <a:xfrm>
            <a:off x="462915" y="217805"/>
            <a:ext cx="11281410" cy="5435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sz="3900" b="1">
                <a:solidFill>
                  <a:srgbClr val="004F87"/>
                </a:solidFill>
              </a:rPr>
              <a:t>Перелік класів бізнес-логіки програмної системи</a:t>
            </a:r>
            <a:endParaRPr lang="en-US" altLang="en-US" sz="3900" b="1">
              <a:solidFill>
                <a:srgbClr val="004F87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62915" y="1544320"/>
            <a:ext cx="3339465" cy="4592320"/>
          </a:xfrm>
          <a:prstGeom prst="roundRect">
            <a:avLst/>
          </a:prstGeom>
          <a:solidFill>
            <a:srgbClr val="004F87"/>
          </a:solidFill>
          <a:ln>
            <a:solidFill>
              <a:srgbClr val="004F8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8404860" y="1544320"/>
            <a:ext cx="3339465" cy="4592320"/>
          </a:xfrm>
          <a:prstGeom prst="roundRect">
            <a:avLst/>
          </a:prstGeom>
          <a:solidFill>
            <a:srgbClr val="004F87"/>
          </a:solidFill>
          <a:ln>
            <a:solidFill>
              <a:srgbClr val="004F8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Rounded Rectangle 11"/>
          <p:cNvSpPr/>
          <p:nvPr/>
        </p:nvSpPr>
        <p:spPr>
          <a:xfrm>
            <a:off x="4497705" y="1543685"/>
            <a:ext cx="3339465" cy="4592320"/>
          </a:xfrm>
          <a:prstGeom prst="roundRect">
            <a:avLst/>
          </a:prstGeom>
          <a:solidFill>
            <a:srgbClr val="004F87"/>
          </a:solidFill>
          <a:ln>
            <a:solidFill>
              <a:srgbClr val="004F8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13" name="Picture 12" descr="folder_65767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6380" y="1678305"/>
            <a:ext cx="1232535" cy="1232535"/>
          </a:xfrm>
          <a:prstGeom prst="rect">
            <a:avLst/>
          </a:prstGeom>
        </p:spPr>
      </p:pic>
      <p:sp>
        <p:nvSpPr>
          <p:cNvPr id="14" name="Text Box 13"/>
          <p:cNvSpPr txBox="1"/>
          <p:nvPr/>
        </p:nvSpPr>
        <p:spPr>
          <a:xfrm>
            <a:off x="725805" y="3597275"/>
            <a:ext cx="2814320" cy="19850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rgbClr val="F0F1E5"/>
                </a:solidFill>
              </a:rPr>
              <a:t>IEntity (Базовий інтерфейс)</a:t>
            </a:r>
            <a:endParaRPr lang="en-US" altLang="en-US" sz="1600">
              <a:solidFill>
                <a:srgbClr val="F0F1E5"/>
              </a:solidFill>
            </a:endParaRP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rgbClr val="F0F1E5"/>
                </a:solidFill>
              </a:rPr>
              <a:t>MenuItem (Абстрактна основа)</a:t>
            </a:r>
            <a:endParaRPr lang="en-US" altLang="en-US" sz="1600">
              <a:solidFill>
                <a:srgbClr val="F0F1E5"/>
              </a:solidFill>
            </a:endParaRP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rgbClr val="F0F1E5"/>
                </a:solidFill>
              </a:rPr>
              <a:t>Dish (Клас страви)</a:t>
            </a:r>
            <a:endParaRPr lang="en-US" altLang="en-US" sz="1600">
              <a:solidFill>
                <a:srgbClr val="F0F1E5"/>
              </a:solidFill>
            </a:endParaRP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rgbClr val="F0F1E5"/>
                </a:solidFill>
              </a:rPr>
              <a:t>Drink (Клас напою)</a:t>
            </a:r>
            <a:endParaRPr lang="en-US" altLang="en-US" sz="1600">
              <a:solidFill>
                <a:srgbClr val="F0F1E5"/>
              </a:solidFill>
            </a:endParaRP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rgbClr val="F0F1E5"/>
                </a:solidFill>
              </a:rPr>
              <a:t>User (Профіль користувача)</a:t>
            </a:r>
            <a:endParaRPr lang="en-US" altLang="en-US" sz="1600">
              <a:solidFill>
                <a:srgbClr val="F0F1E5"/>
              </a:solidFill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725170" y="2943860"/>
            <a:ext cx="2783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2000" b="1">
                <a:solidFill>
                  <a:srgbClr val="12C9A0"/>
                </a:solidFill>
                <a:latin typeface="+mj-lt"/>
                <a:cs typeface="+mj-lt"/>
              </a:rPr>
              <a:t>Сутності даних</a:t>
            </a:r>
            <a:endParaRPr lang="en-US" altLang="en-US" sz="2000" b="1">
              <a:solidFill>
                <a:srgbClr val="12C9A0"/>
              </a:solidFill>
              <a:latin typeface="+mj-lt"/>
              <a:cs typeface="+mj-lt"/>
            </a:endParaRPr>
          </a:p>
        </p:txBody>
      </p:sp>
      <p:pic>
        <p:nvPicPr>
          <p:cNvPr id="16" name="Picture 15" descr="full-screen_100807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4155" y="1494790"/>
            <a:ext cx="1599565" cy="1599565"/>
          </a:xfrm>
          <a:prstGeom prst="rect">
            <a:avLst/>
          </a:prstGeom>
        </p:spPr>
      </p:pic>
      <p:sp>
        <p:nvSpPr>
          <p:cNvPr id="17" name="Text Box 16"/>
          <p:cNvSpPr txBox="1"/>
          <p:nvPr/>
        </p:nvSpPr>
        <p:spPr>
          <a:xfrm>
            <a:off x="4712335" y="2943860"/>
            <a:ext cx="2783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2000" b="1">
                <a:solidFill>
                  <a:srgbClr val="12C9A0"/>
                </a:solidFill>
                <a:latin typeface="+mj-lt"/>
                <a:cs typeface="+mj-lt"/>
              </a:rPr>
              <a:t>Керуючі модулі</a:t>
            </a:r>
            <a:endParaRPr lang="en-US" altLang="en-US" sz="2000" b="1">
              <a:solidFill>
                <a:srgbClr val="12C9A0"/>
              </a:solidFill>
              <a:latin typeface="+mj-lt"/>
              <a:cs typeface="+mj-lt"/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4712335" y="3597275"/>
            <a:ext cx="2903220" cy="19850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rgbClr val="F0F1E5"/>
                </a:solidFill>
                <a:sym typeface="+mn-ea"/>
              </a:rPr>
              <a:t>UserManager (Автентифікація та права)</a:t>
            </a:r>
            <a:endParaRPr lang="en-US" altLang="en-US" sz="1600">
              <a:solidFill>
                <a:srgbClr val="F0F1E5"/>
              </a:solidFill>
              <a:sym typeface="+mn-ea"/>
            </a:endParaRP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rgbClr val="F0F1E5"/>
                </a:solidFill>
                <a:sym typeface="+mn-ea"/>
              </a:rPr>
              <a:t>RestaurantManager (CRUD-операції меню)</a:t>
            </a:r>
            <a:endParaRPr lang="en-US" altLang="en-US" sz="1600">
              <a:solidFill>
                <a:srgbClr val="F0F1E5"/>
              </a:solidFill>
              <a:sym typeface="+mn-ea"/>
            </a:endParaRPr>
          </a:p>
        </p:txBody>
      </p:sp>
      <p:pic>
        <p:nvPicPr>
          <p:cNvPr id="19" name="Picture 18" descr="market_162052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4980" y="1544320"/>
            <a:ext cx="1419860" cy="1419860"/>
          </a:xfrm>
          <a:prstGeom prst="rect">
            <a:avLst/>
          </a:prstGeom>
        </p:spPr>
      </p:pic>
      <p:sp>
        <p:nvSpPr>
          <p:cNvPr id="20" name="Text Box 19"/>
          <p:cNvSpPr txBox="1"/>
          <p:nvPr/>
        </p:nvSpPr>
        <p:spPr>
          <a:xfrm>
            <a:off x="8699500" y="2943860"/>
            <a:ext cx="2783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2000" b="1">
                <a:solidFill>
                  <a:srgbClr val="12C9A0"/>
                </a:solidFill>
                <a:latin typeface="+mj-lt"/>
                <a:cs typeface="+mj-lt"/>
              </a:rPr>
              <a:t>Керуючі модулі</a:t>
            </a:r>
            <a:endParaRPr lang="en-US" altLang="en-US" sz="2000" b="1">
              <a:solidFill>
                <a:srgbClr val="12C9A0"/>
              </a:solidFill>
              <a:latin typeface="+mj-lt"/>
              <a:cs typeface="+mj-lt"/>
            </a:endParaRPr>
          </a:p>
        </p:txBody>
      </p:sp>
      <p:sp>
        <p:nvSpPr>
          <p:cNvPr id="21" name="Text Box 20"/>
          <p:cNvSpPr txBox="1"/>
          <p:nvPr/>
        </p:nvSpPr>
        <p:spPr>
          <a:xfrm>
            <a:off x="8699500" y="3597275"/>
            <a:ext cx="2903220" cy="19850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rgbClr val="F0F1E5"/>
                </a:solidFill>
                <a:sym typeface="+mn-ea"/>
              </a:rPr>
              <a:t>Order (Агрегація та розрахунок вартості)</a:t>
            </a:r>
            <a:endParaRPr lang="en-US" altLang="en-US" sz="1600">
              <a:solidFill>
                <a:srgbClr val="F0F1E5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9" name="object 9"/>
          <p:cNvSpPr/>
          <p:nvPr/>
        </p:nvSpPr>
        <p:spPr>
          <a:xfrm>
            <a:off x="462915" y="895985"/>
            <a:ext cx="11282045" cy="647700"/>
          </a:xfrm>
          <a:custGeom>
            <a:avLst/>
            <a:gdLst/>
            <a:ahLst/>
            <a:cxnLst/>
            <a:rect l="l" t="t" r="r" b="b"/>
            <a:pathLst>
              <a:path w="18298160">
                <a:moveTo>
                  <a:pt x="0" y="0"/>
                </a:moveTo>
                <a:lnTo>
                  <a:pt x="18297873" y="0"/>
                </a:lnTo>
              </a:path>
            </a:pathLst>
          </a:custGeom>
          <a:ln w="62825">
            <a:solidFill>
              <a:srgbClr val="0150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Title 5"/>
          <p:cNvSpPr>
            <a:spLocks noGrp="1"/>
          </p:cNvSpPr>
          <p:nvPr/>
        </p:nvSpPr>
        <p:spPr>
          <a:xfrm>
            <a:off x="462915" y="217805"/>
            <a:ext cx="11281410" cy="5435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sz="3200" b="1">
                <a:solidFill>
                  <a:srgbClr val="004F87"/>
                </a:solidFill>
              </a:rPr>
              <a:t>Перелік функцій програми</a:t>
            </a:r>
            <a:endParaRPr lang="en-US" altLang="en-US" sz="3200" b="1">
              <a:solidFill>
                <a:srgbClr val="004F87"/>
              </a:solidFill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63550" y="1284605"/>
            <a:ext cx="11281410" cy="5006340"/>
          </a:xfrm>
          <a:prstGeom prst="rect">
            <a:avLst/>
          </a:prstGeom>
        </p:spPr>
        <p:txBody>
          <a:bodyPr>
            <a:no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sz="2000" b="1">
                <a:solidFill>
                  <a:srgbClr val="004F87"/>
                </a:solidFill>
              </a:rPr>
              <a:t>Керування доступом</a:t>
            </a:r>
            <a:r>
              <a:rPr sz="2000">
                <a:solidFill>
                  <a:srgbClr val="004F87"/>
                </a:solidFill>
              </a:rPr>
              <a:t> — реєстрація, авторизація та розмежування ролей (Адмін / Клієнт)</a:t>
            </a:r>
            <a:endParaRPr sz="2000">
              <a:solidFill>
                <a:srgbClr val="004F87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sz="2000" b="1">
              <a:solidFill>
                <a:srgbClr val="004F87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sz="2000" b="1">
              <a:solidFill>
                <a:srgbClr val="004F87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000" b="1">
                <a:solidFill>
                  <a:srgbClr val="004F87"/>
                </a:solidFill>
              </a:rPr>
              <a:t>Адміністрування меню (CRUD)</a:t>
            </a:r>
            <a:r>
              <a:rPr sz="2000">
                <a:solidFill>
                  <a:srgbClr val="004F87"/>
                </a:solidFill>
              </a:rPr>
              <a:t> — додавання, вибіркове редагування та видалення позицій за ID</a:t>
            </a:r>
            <a:endParaRPr sz="2000">
              <a:solidFill>
                <a:srgbClr val="004F87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sz="2000" b="1">
              <a:solidFill>
                <a:srgbClr val="004F87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sz="2000" b="1">
              <a:solidFill>
                <a:srgbClr val="004F87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000" b="1">
                <a:solidFill>
                  <a:srgbClr val="004F87"/>
                </a:solidFill>
              </a:rPr>
              <a:t>Поліморфна обробка даних</a:t>
            </a:r>
            <a:r>
              <a:rPr sz="2000">
                <a:solidFill>
                  <a:srgbClr val="004F87"/>
                </a:solidFill>
              </a:rPr>
              <a:t> — регістронезалежний пошук, фільтрація та сортування за ціною</a:t>
            </a:r>
            <a:endParaRPr sz="2000">
              <a:solidFill>
                <a:srgbClr val="004F87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sz="2000" b="1">
              <a:solidFill>
                <a:srgbClr val="004F87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sz="2000" b="1">
              <a:solidFill>
                <a:srgbClr val="004F87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000" b="1">
                <a:solidFill>
                  <a:srgbClr val="004F87"/>
                </a:solidFill>
              </a:rPr>
              <a:t>Облік замовлень (Кошик)</a:t>
            </a:r>
            <a:r>
              <a:rPr sz="2000">
                <a:solidFill>
                  <a:srgbClr val="004F87"/>
                </a:solidFill>
              </a:rPr>
              <a:t> — розрахунок суми та вікових обмежень</a:t>
            </a:r>
            <a:endParaRPr sz="2000">
              <a:solidFill>
                <a:srgbClr val="004F87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sz="2000" b="1">
              <a:solidFill>
                <a:srgbClr val="004F87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sz="2000" b="1">
              <a:solidFill>
                <a:srgbClr val="004F87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000" b="1">
                <a:solidFill>
                  <a:srgbClr val="004F87"/>
                </a:solidFill>
              </a:rPr>
              <a:t>Синхронізація з диском</a:t>
            </a:r>
            <a:r>
              <a:rPr sz="2000">
                <a:solidFill>
                  <a:srgbClr val="004F87"/>
                </a:solidFill>
              </a:rPr>
              <a:t> — автоматичне збереження та завантаження бази даних із CSV/TXT файлів</a:t>
            </a:r>
            <a:endParaRPr sz="2000">
              <a:solidFill>
                <a:srgbClr val="004F87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object 9"/>
          <p:cNvSpPr/>
          <p:nvPr/>
        </p:nvSpPr>
        <p:spPr>
          <a:xfrm>
            <a:off x="462915" y="895985"/>
            <a:ext cx="11282045" cy="647700"/>
          </a:xfrm>
          <a:custGeom>
            <a:avLst/>
            <a:gdLst/>
            <a:ahLst/>
            <a:cxnLst/>
            <a:rect l="l" t="t" r="r" b="b"/>
            <a:pathLst>
              <a:path w="18298160">
                <a:moveTo>
                  <a:pt x="0" y="0"/>
                </a:moveTo>
                <a:lnTo>
                  <a:pt x="18297873" y="0"/>
                </a:lnTo>
              </a:path>
            </a:pathLst>
          </a:custGeom>
          <a:ln w="62825">
            <a:solidFill>
              <a:srgbClr val="0150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Title 5"/>
          <p:cNvSpPr>
            <a:spLocks noGrp="1"/>
          </p:cNvSpPr>
          <p:nvPr/>
        </p:nvSpPr>
        <p:spPr>
          <a:xfrm>
            <a:off x="462915" y="217805"/>
            <a:ext cx="11281410" cy="5435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sz="3200" b="1">
                <a:solidFill>
                  <a:srgbClr val="004F87"/>
                </a:solidFill>
                <a:sym typeface="+mn-ea"/>
              </a:rPr>
              <a:t>Особливості програмної реалізації (Автентифікація)</a:t>
            </a:r>
            <a:endParaRPr lang="en-US" altLang="en-US" sz="3200" b="1">
              <a:solidFill>
                <a:srgbClr val="004F87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62915" y="1312545"/>
            <a:ext cx="4955540" cy="2225040"/>
          </a:xfrm>
          <a:prstGeom prst="roundRect">
            <a:avLst/>
          </a:prstGeom>
          <a:solidFill>
            <a:srgbClr val="015097"/>
          </a:solidFill>
          <a:ln>
            <a:solidFill>
              <a:srgbClr val="0150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0"/>
          <a:p>
            <a:pPr algn="l"/>
            <a:r>
              <a:rPr lang="en-US" altLang="en-US" sz="2000">
                <a:solidFill>
                  <a:srgbClr val="F0F1E5"/>
                </a:solidFill>
                <a:sym typeface="+mn-ea"/>
              </a:rPr>
              <a:t>Реалізовано стійке стартове вікно для вибору між входом, реєстрацією клієнта та викликом інтерактивного довідника.</a:t>
            </a:r>
            <a:endParaRPr lang="en-US" altLang="en-US" sz="2000">
              <a:solidFill>
                <a:srgbClr val="F0F1E5"/>
              </a:solidFill>
              <a:sym typeface="+mn-ea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789420" y="4190365"/>
            <a:ext cx="4955540" cy="2225040"/>
          </a:xfrm>
          <a:prstGeom prst="roundRect">
            <a:avLst/>
          </a:prstGeom>
          <a:solidFill>
            <a:srgbClr val="015097"/>
          </a:solidFill>
          <a:ln>
            <a:solidFill>
              <a:srgbClr val="0150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0"/>
          <a:p>
            <a:pPr algn="ctr"/>
            <a:r>
              <a:rPr lang="en-US" altLang="en-US" sz="2000">
                <a:solidFill>
                  <a:srgbClr val="F0F1E5"/>
                </a:solidFill>
                <a:sym typeface="+mn-ea"/>
              </a:rPr>
              <a:t>Захист системи від критичних збоїв: перевірка вхідних потоків даних на порожні рядки або некоректні числові значення.</a:t>
            </a:r>
            <a:endParaRPr lang="en-US" altLang="en-US" sz="2000">
              <a:solidFill>
                <a:srgbClr val="F0F1E5"/>
              </a:solidFill>
              <a:sym typeface="+mn-ea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8835" y="1312545"/>
            <a:ext cx="5825490" cy="222440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915" y="4976495"/>
            <a:ext cx="5894070" cy="83312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915" y="3960495"/>
            <a:ext cx="5885180" cy="89979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915" y="5925820"/>
            <a:ext cx="5884545" cy="7581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object 9"/>
          <p:cNvSpPr/>
          <p:nvPr/>
        </p:nvSpPr>
        <p:spPr>
          <a:xfrm>
            <a:off x="462915" y="895985"/>
            <a:ext cx="11282045" cy="647700"/>
          </a:xfrm>
          <a:custGeom>
            <a:avLst/>
            <a:gdLst/>
            <a:ahLst/>
            <a:cxnLst/>
            <a:rect l="l" t="t" r="r" b="b"/>
            <a:pathLst>
              <a:path w="18298160">
                <a:moveTo>
                  <a:pt x="0" y="0"/>
                </a:moveTo>
                <a:lnTo>
                  <a:pt x="18297873" y="0"/>
                </a:lnTo>
              </a:path>
            </a:pathLst>
          </a:custGeom>
          <a:ln w="62825">
            <a:solidFill>
              <a:srgbClr val="0150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Title 5"/>
          <p:cNvSpPr>
            <a:spLocks noGrp="1"/>
          </p:cNvSpPr>
          <p:nvPr/>
        </p:nvSpPr>
        <p:spPr>
          <a:xfrm>
            <a:off x="462915" y="217805"/>
            <a:ext cx="11281410" cy="5435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sz="3200" b="1">
                <a:solidFill>
                  <a:srgbClr val="004F87"/>
                </a:solidFill>
                <a:sym typeface="+mn-ea"/>
              </a:rPr>
              <a:t>Особливості програмної реалізації (Панель адміністратора)</a:t>
            </a:r>
            <a:endParaRPr lang="en-US" altLang="en-US" sz="3200" b="1">
              <a:solidFill>
                <a:srgbClr val="004F87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62915" y="1273810"/>
            <a:ext cx="4955540" cy="2225040"/>
          </a:xfrm>
          <a:prstGeom prst="roundRect">
            <a:avLst/>
          </a:prstGeom>
          <a:solidFill>
            <a:srgbClr val="015097"/>
          </a:solidFill>
          <a:ln>
            <a:solidFill>
              <a:srgbClr val="0150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0"/>
          <a:p>
            <a:pPr algn="ctr"/>
            <a:r>
              <a:rPr lang="en-US" altLang="en-US" sz="2000">
                <a:solidFill>
                  <a:srgbClr val="F0F1E5"/>
                </a:solidFill>
                <a:sym typeface="+mn-ea"/>
              </a:rPr>
              <a:t>Повний контроль над життєвим циклом об'єктів у системі: реалізація операцій створення, читання, оновлення та видалення (CRUD).</a:t>
            </a:r>
            <a:endParaRPr lang="en-US" altLang="en-US" sz="2000">
              <a:solidFill>
                <a:srgbClr val="F0F1E5"/>
              </a:solidFill>
              <a:sym typeface="+mn-ea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789420" y="3991610"/>
            <a:ext cx="4955540" cy="2225040"/>
          </a:xfrm>
          <a:prstGeom prst="roundRect">
            <a:avLst/>
          </a:prstGeom>
          <a:solidFill>
            <a:srgbClr val="015097"/>
          </a:solidFill>
          <a:ln>
            <a:solidFill>
              <a:srgbClr val="0150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0"/>
          <a:p>
            <a:pPr algn="ctr"/>
            <a:r>
              <a:rPr lang="en-US" altLang="en-US" sz="2000">
                <a:solidFill>
                  <a:srgbClr val="F0F1E5"/>
                </a:solidFill>
                <a:sym typeface="+mn-ea"/>
              </a:rPr>
              <a:t>Безпечне керування базою користувачів з вбудованим логічним захистом від випадкового самовидалення активного адміністратора з бази.</a:t>
            </a:r>
            <a:endParaRPr lang="en-US" altLang="en-US" sz="2000">
              <a:solidFill>
                <a:srgbClr val="F0F1E5"/>
              </a:solidFill>
              <a:sym typeface="+mn-ea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8220" y="1273810"/>
            <a:ext cx="5666105" cy="211582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225" y="3902075"/>
            <a:ext cx="6362700" cy="23145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object 9"/>
          <p:cNvSpPr/>
          <p:nvPr/>
        </p:nvSpPr>
        <p:spPr>
          <a:xfrm>
            <a:off x="462915" y="895985"/>
            <a:ext cx="11282045" cy="647700"/>
          </a:xfrm>
          <a:custGeom>
            <a:avLst/>
            <a:gdLst/>
            <a:ahLst/>
            <a:cxnLst/>
            <a:rect l="l" t="t" r="r" b="b"/>
            <a:pathLst>
              <a:path w="18298160">
                <a:moveTo>
                  <a:pt x="0" y="0"/>
                </a:moveTo>
                <a:lnTo>
                  <a:pt x="18297873" y="0"/>
                </a:lnTo>
              </a:path>
            </a:pathLst>
          </a:custGeom>
          <a:ln w="62825">
            <a:solidFill>
              <a:srgbClr val="0150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Title 5"/>
          <p:cNvSpPr>
            <a:spLocks noGrp="1"/>
          </p:cNvSpPr>
          <p:nvPr/>
        </p:nvSpPr>
        <p:spPr>
          <a:xfrm>
            <a:off x="462915" y="217805"/>
            <a:ext cx="11281410" cy="5435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sz="3200" b="1">
                <a:solidFill>
                  <a:srgbClr val="004F87"/>
                </a:solidFill>
                <a:sym typeface="+mn-ea"/>
              </a:rPr>
              <a:t>Особливості програмної реалізації (Управління меню)</a:t>
            </a:r>
            <a:endParaRPr lang="en-US" altLang="en-US" sz="3200" b="1">
              <a:solidFill>
                <a:srgbClr val="004F87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62915" y="1090295"/>
            <a:ext cx="5227320" cy="2009140"/>
          </a:xfrm>
          <a:prstGeom prst="roundRect">
            <a:avLst/>
          </a:prstGeom>
          <a:solidFill>
            <a:srgbClr val="015097"/>
          </a:solidFill>
          <a:ln>
            <a:solidFill>
              <a:srgbClr val="0150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0"/>
          <a:p>
            <a:pPr algn="ctr"/>
            <a:r>
              <a:rPr lang="en-US" altLang="en-US" sz="2000">
                <a:solidFill>
                  <a:srgbClr val="F0F1E5"/>
                </a:solidFill>
                <a:sym typeface="+mn-ea"/>
              </a:rPr>
              <a:t>Покроковий консольний інтерфейс для інтерактивного додавання нових позицій меню з урахуванням специфіки страв чи напоїв</a:t>
            </a:r>
            <a:endParaRPr lang="en-US" altLang="en-US" sz="2000">
              <a:solidFill>
                <a:srgbClr val="F0F1E5"/>
              </a:solidFill>
              <a:sym typeface="+mn-ea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645910" y="3744595"/>
            <a:ext cx="4955540" cy="2225040"/>
          </a:xfrm>
          <a:prstGeom prst="roundRect">
            <a:avLst/>
          </a:prstGeom>
          <a:solidFill>
            <a:srgbClr val="015097"/>
          </a:solidFill>
          <a:ln>
            <a:solidFill>
              <a:srgbClr val="0150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0"/>
          <a:p>
            <a:pPr algn="ctr"/>
            <a:r>
              <a:rPr lang="en-US" altLang="en-US" sz="2000">
                <a:solidFill>
                  <a:srgbClr val="F0F1E5"/>
                </a:solidFill>
                <a:sym typeface="+mn-ea"/>
              </a:rPr>
              <a:t>Універсальний алгоритм редагування: можливість вибіркового оновлення окремих полів або збереження поточних параметрів натисканням клавіші Enter.</a:t>
            </a:r>
            <a:endParaRPr lang="en-US" altLang="en-US" sz="2000">
              <a:solidFill>
                <a:srgbClr val="F0F1E5"/>
              </a:solidFill>
              <a:sym typeface="+mn-e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4815" y="1090295"/>
            <a:ext cx="4495800" cy="20097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915" y="3902075"/>
            <a:ext cx="5718175" cy="190944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object 9"/>
          <p:cNvSpPr/>
          <p:nvPr/>
        </p:nvSpPr>
        <p:spPr>
          <a:xfrm>
            <a:off x="462915" y="895985"/>
            <a:ext cx="11282045" cy="647700"/>
          </a:xfrm>
          <a:custGeom>
            <a:avLst/>
            <a:gdLst/>
            <a:ahLst/>
            <a:cxnLst/>
            <a:rect l="l" t="t" r="r" b="b"/>
            <a:pathLst>
              <a:path w="18298160">
                <a:moveTo>
                  <a:pt x="0" y="0"/>
                </a:moveTo>
                <a:lnTo>
                  <a:pt x="18297873" y="0"/>
                </a:lnTo>
              </a:path>
            </a:pathLst>
          </a:custGeom>
          <a:ln w="62825">
            <a:solidFill>
              <a:srgbClr val="0150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Title 5"/>
          <p:cNvSpPr>
            <a:spLocks noGrp="1"/>
          </p:cNvSpPr>
          <p:nvPr/>
        </p:nvSpPr>
        <p:spPr>
          <a:xfrm>
            <a:off x="462915" y="217805"/>
            <a:ext cx="11281410" cy="5435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sz="3200" b="1">
                <a:solidFill>
                  <a:srgbClr val="004F87"/>
                </a:solidFill>
              </a:rPr>
              <a:t>Особливості програмної реалізації (Пошук та сортування)</a:t>
            </a:r>
            <a:endParaRPr lang="en-US" altLang="en-US" sz="3200" b="1">
              <a:solidFill>
                <a:srgbClr val="004F87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62915" y="1312545"/>
            <a:ext cx="4955540" cy="2225040"/>
          </a:xfrm>
          <a:prstGeom prst="roundRect">
            <a:avLst/>
          </a:prstGeom>
          <a:solidFill>
            <a:srgbClr val="015097"/>
          </a:solidFill>
          <a:ln>
            <a:solidFill>
              <a:srgbClr val="0150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0"/>
          <a:p>
            <a:pPr algn="ctr"/>
            <a:r>
              <a:rPr lang="en-US" altLang="en-US" sz="2000">
                <a:solidFill>
                  <a:srgbClr val="F0F1E5"/>
                </a:solidFill>
                <a:sym typeface="+mn-ea"/>
              </a:rPr>
              <a:t>Реалізація універсального пошуку, що дозволяє знаходити позиції одночасно за назвою, категорією або ознакою вмісту алкоголю.</a:t>
            </a:r>
            <a:endParaRPr lang="en-US" altLang="en-US" sz="2000">
              <a:solidFill>
                <a:srgbClr val="F0F1E5"/>
              </a:solidFill>
              <a:sym typeface="+mn-ea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789420" y="4190365"/>
            <a:ext cx="4955540" cy="2225040"/>
          </a:xfrm>
          <a:prstGeom prst="roundRect">
            <a:avLst/>
          </a:prstGeom>
          <a:solidFill>
            <a:srgbClr val="015097"/>
          </a:solidFill>
          <a:ln>
            <a:solidFill>
              <a:srgbClr val="0150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0"/>
          <a:p>
            <a:pPr algn="ctr"/>
            <a:r>
              <a:rPr lang="en-US" altLang="en-US" sz="2000">
                <a:solidFill>
                  <a:srgbClr val="F0F1E5"/>
                </a:solidFill>
                <a:sym typeface="+mn-ea"/>
              </a:rPr>
              <a:t>Швидке перемикання відображення бази електронного меню між звичайним та відсортованим за ціною виглядом.</a:t>
            </a:r>
            <a:endParaRPr lang="en-US" altLang="en-US" sz="2000">
              <a:solidFill>
                <a:srgbClr val="F0F1E5"/>
              </a:solidFill>
              <a:sym typeface="+mn-e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115" y="1543685"/>
            <a:ext cx="6125845" cy="158496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425" y="4507865"/>
            <a:ext cx="5995670" cy="15894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object 9"/>
          <p:cNvSpPr/>
          <p:nvPr/>
        </p:nvSpPr>
        <p:spPr>
          <a:xfrm>
            <a:off x="462915" y="895985"/>
            <a:ext cx="11282045" cy="647700"/>
          </a:xfrm>
          <a:custGeom>
            <a:avLst/>
            <a:gdLst/>
            <a:ahLst/>
            <a:cxnLst/>
            <a:rect l="l" t="t" r="r" b="b"/>
            <a:pathLst>
              <a:path w="18298160">
                <a:moveTo>
                  <a:pt x="0" y="0"/>
                </a:moveTo>
                <a:lnTo>
                  <a:pt x="18297873" y="0"/>
                </a:lnTo>
              </a:path>
            </a:pathLst>
          </a:custGeom>
          <a:ln w="62825">
            <a:solidFill>
              <a:srgbClr val="0150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Title 5"/>
          <p:cNvSpPr>
            <a:spLocks noGrp="1"/>
          </p:cNvSpPr>
          <p:nvPr/>
        </p:nvSpPr>
        <p:spPr>
          <a:xfrm>
            <a:off x="462915" y="217805"/>
            <a:ext cx="11281410" cy="5435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sz="3200" b="1">
                <a:solidFill>
                  <a:srgbClr val="004F87"/>
                </a:solidFill>
              </a:rPr>
              <a:t>Особливості програмної реалізації (Формування чека)</a:t>
            </a:r>
            <a:endParaRPr lang="en-US" altLang="en-US" sz="3200" b="1">
              <a:solidFill>
                <a:srgbClr val="004F87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62915" y="1312545"/>
            <a:ext cx="4955540" cy="2225040"/>
          </a:xfrm>
          <a:prstGeom prst="roundRect">
            <a:avLst/>
          </a:prstGeom>
          <a:solidFill>
            <a:srgbClr val="015097"/>
          </a:solidFill>
          <a:ln>
            <a:solidFill>
              <a:srgbClr val="0150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0"/>
          <a:p>
            <a:pPr algn="ctr"/>
            <a:r>
              <a:rPr lang="en-US" altLang="en-US" sz="2000">
                <a:solidFill>
                  <a:srgbClr val="F0F1E5"/>
                </a:solidFill>
                <a:sym typeface="+mn-ea"/>
              </a:rPr>
              <a:t>Механізм RTTI за допомогою оператора dynamic_cast ідентифікує тип позиції при додаванні та виводить сервісні попередження для офіціанта.</a:t>
            </a:r>
            <a:endParaRPr lang="en-US" altLang="en-US" sz="2000">
              <a:solidFill>
                <a:srgbClr val="F0F1E5"/>
              </a:solidFill>
              <a:sym typeface="+mn-ea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606540" y="4080510"/>
            <a:ext cx="4955540" cy="2225040"/>
          </a:xfrm>
          <a:prstGeom prst="roundRect">
            <a:avLst/>
          </a:prstGeom>
          <a:solidFill>
            <a:srgbClr val="015097"/>
          </a:solidFill>
          <a:ln>
            <a:solidFill>
              <a:srgbClr val="0150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0"/>
          <a:p>
            <a:pPr algn="ctr"/>
            <a:r>
              <a:rPr lang="en-US" altLang="en-US" sz="2000">
                <a:solidFill>
                  <a:srgbClr val="F0F1E5"/>
                </a:solidFill>
                <a:sym typeface="+mn-ea"/>
              </a:rPr>
              <a:t>Генерація деталізованого чека, що включає повний перелік замовлених товарів, їх індивідуальні параметри та підсумкову суму до оплати.</a:t>
            </a:r>
            <a:endParaRPr lang="en-US" altLang="en-US" sz="2000">
              <a:solidFill>
                <a:srgbClr val="F0F1E5"/>
              </a:solidFill>
              <a:sym typeface="+mn-ea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" y="4088765"/>
            <a:ext cx="5875655" cy="230441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930" y="1543685"/>
            <a:ext cx="5943600" cy="82867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6930" y="2717165"/>
            <a:ext cx="5944235" cy="8204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5" name="object 9"/>
          <p:cNvSpPr/>
          <p:nvPr/>
        </p:nvSpPr>
        <p:spPr>
          <a:xfrm>
            <a:off x="462915" y="895985"/>
            <a:ext cx="11282045" cy="647700"/>
          </a:xfrm>
          <a:custGeom>
            <a:avLst/>
            <a:gdLst/>
            <a:ahLst/>
            <a:cxnLst/>
            <a:rect l="l" t="t" r="r" b="b"/>
            <a:pathLst>
              <a:path w="18298160">
                <a:moveTo>
                  <a:pt x="0" y="0"/>
                </a:moveTo>
                <a:lnTo>
                  <a:pt x="18297873" y="0"/>
                </a:lnTo>
              </a:path>
            </a:pathLst>
          </a:custGeom>
          <a:ln w="62825">
            <a:solidFill>
              <a:srgbClr val="0150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Title 5"/>
          <p:cNvSpPr>
            <a:spLocks noGrp="1"/>
          </p:cNvSpPr>
          <p:nvPr/>
        </p:nvSpPr>
        <p:spPr>
          <a:xfrm>
            <a:off x="462915" y="217805"/>
            <a:ext cx="11281410" cy="5435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uk-UA" altLang="en-US" sz="3200" b="1">
                <a:solidFill>
                  <a:srgbClr val="004F87"/>
                </a:solidFill>
              </a:rPr>
              <a:t>Висновки</a:t>
            </a:r>
            <a:endParaRPr lang="uk-UA" altLang="en-US" sz="3200" b="1">
              <a:solidFill>
                <a:srgbClr val="004F87"/>
              </a:solidFill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463550" y="1104900"/>
            <a:ext cx="1128014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2000">
                <a:solidFill>
                  <a:srgbClr val="004F87"/>
                </a:solidFill>
              </a:rPr>
              <a:t>У ході виконання курсового проєкту успішно розроблено та </a:t>
            </a:r>
            <a:endParaRPr lang="en-US" altLang="en-US" sz="2000">
              <a:solidFill>
                <a:srgbClr val="004F87"/>
              </a:solidFill>
            </a:endParaRPr>
          </a:p>
          <a:p>
            <a:pPr algn="ctr"/>
            <a:r>
              <a:rPr lang="en-US" altLang="en-US" sz="2000">
                <a:solidFill>
                  <a:srgbClr val="004F87"/>
                </a:solidFill>
              </a:rPr>
              <a:t>протестовано програмну систему </a:t>
            </a:r>
            <a:r>
              <a:rPr lang="en-US" altLang="en-US" sz="2000">
                <a:solidFill>
                  <a:srgbClr val="004F87"/>
                </a:solidFill>
              </a:rPr>
              <a:t>«</a:t>
            </a:r>
            <a:r>
              <a:rPr lang="en-US" altLang="en-US" sz="2000">
                <a:solidFill>
                  <a:srgbClr val="004F87"/>
                </a:solidFill>
              </a:rPr>
              <a:t>Restaurant Management System</a:t>
            </a:r>
            <a:r>
              <a:rPr lang="en-US" altLang="en-US" sz="2000">
                <a:solidFill>
                  <a:srgbClr val="004F87"/>
                </a:solidFill>
              </a:rPr>
              <a:t>»</a:t>
            </a:r>
            <a:r>
              <a:rPr lang="en-US" altLang="en-US" sz="2000">
                <a:solidFill>
                  <a:srgbClr val="004F87"/>
                </a:solidFill>
              </a:rPr>
              <a:t>.</a:t>
            </a:r>
            <a:endParaRPr lang="en-US" altLang="en-US" sz="2000">
              <a:solidFill>
                <a:srgbClr val="004F87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62915" y="2092325"/>
            <a:ext cx="4955540" cy="1666875"/>
          </a:xfrm>
          <a:prstGeom prst="roundRect">
            <a:avLst/>
          </a:prstGeom>
          <a:solidFill>
            <a:srgbClr val="015097"/>
          </a:solidFill>
          <a:ln>
            <a:solidFill>
              <a:srgbClr val="0150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0"/>
          <a:p>
            <a:pPr algn="ctr"/>
            <a:r>
              <a:rPr lang="en-US" altLang="en-US" sz="2000">
                <a:solidFill>
                  <a:srgbClr val="F0F1E5"/>
                </a:solidFill>
                <a:sym typeface="+mn-ea"/>
              </a:rPr>
              <a:t>Побудовано надійну архітектуру, що на практиці демонструє переваги об'єктно-орієнтованої парадигми (інкапсуляція полів, наслідування та поліморфізм).</a:t>
            </a:r>
            <a:endParaRPr lang="en-US" altLang="en-US" sz="2000">
              <a:solidFill>
                <a:srgbClr val="F0F1E5"/>
              </a:solidFill>
              <a:sym typeface="+mn-ea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788150" y="2155190"/>
            <a:ext cx="4955540" cy="1666875"/>
          </a:xfrm>
          <a:prstGeom prst="roundRect">
            <a:avLst/>
          </a:prstGeom>
          <a:solidFill>
            <a:srgbClr val="015097"/>
          </a:solidFill>
          <a:ln>
            <a:solidFill>
              <a:srgbClr val="0150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0"/>
          <a:p>
            <a:pPr algn="ctr"/>
            <a:r>
              <a:rPr lang="en-US" altLang="en-US" sz="2000">
                <a:solidFill>
                  <a:srgbClr val="F0F1E5"/>
                </a:solidFill>
                <a:sym typeface="+mn-ea"/>
              </a:rPr>
              <a:t>Досягнуто високої стійкості застосунку до критичних помилок за рахунок валідації користувацького введення та обробки виключень.</a:t>
            </a:r>
            <a:endParaRPr lang="en-US" altLang="en-US" sz="2000">
              <a:solidFill>
                <a:srgbClr val="F0F1E5"/>
              </a:solidFill>
              <a:sym typeface="+mn-ea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625850" y="4433570"/>
            <a:ext cx="4955540" cy="1666875"/>
          </a:xfrm>
          <a:prstGeom prst="roundRect">
            <a:avLst/>
          </a:prstGeom>
          <a:solidFill>
            <a:srgbClr val="015097"/>
          </a:solidFill>
          <a:ln>
            <a:solidFill>
              <a:srgbClr val="01509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0"/>
          <a:p>
            <a:pPr algn="ctr"/>
            <a:r>
              <a:rPr lang="en-US" altLang="en-US" sz="2000">
                <a:solidFill>
                  <a:srgbClr val="F0F1E5"/>
                </a:solidFill>
                <a:sym typeface="+mn-ea"/>
              </a:rPr>
              <a:t>Створена система є гнучкою та повністю готовою до подальшого розширення, зокрема впровадження графічного інтерфейсу (GUI) та реляційних СУБД.</a:t>
            </a:r>
            <a:endParaRPr lang="en-US" altLang="en-US" sz="2000">
              <a:solidFill>
                <a:srgbClr val="F0F1E5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 descr="Без імені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3078480" y="2653030"/>
            <a:ext cx="6096000" cy="775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uk-UA" sz="4445">
                <a:solidFill>
                  <a:srgbClr val="F0F1E3"/>
                </a:solidFill>
                <a:latin typeface="Cascadia Code SemiBold" panose="020B0609020000020004" charset="0"/>
                <a:cs typeface="Cascadia Code SemiBold" panose="020B0609020000020004" charset="0"/>
                <a:sym typeface="+mn-ea"/>
              </a:rPr>
              <a:t>Дякую за увагу</a:t>
            </a:r>
            <a:endParaRPr lang="uk-UA" sz="4445">
              <a:solidFill>
                <a:srgbClr val="F0F1E3"/>
              </a:solidFill>
              <a:latin typeface="Cascadia Code SemiBold" panose="020B0609020000020004" charset="0"/>
              <a:cs typeface="Cascadia Code SemiBold" panose="020B0609020000020004" charset="0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4415</Words>
  <Application>WPS Presentation</Application>
  <PresentationFormat>Widescreen</PresentationFormat>
  <Paragraphs>137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Arial</vt:lpstr>
      <vt:lpstr>SimSun</vt:lpstr>
      <vt:lpstr>Wingdings</vt:lpstr>
      <vt:lpstr>Cascadia Code SemiBold</vt:lpstr>
      <vt:lpstr>Calibri</vt:lpstr>
      <vt:lpstr>Microsoft YaHei</vt:lpstr>
      <vt:lpstr>Arial Unicode MS</vt:lpstr>
      <vt:lpstr>Calibri Light</vt:lpstr>
      <vt:lpstr>Office Theme</vt:lpstr>
      <vt:lpstr>Система управління базою замовлення страв в ресторані</vt:lpstr>
      <vt:lpstr>Мета </vt:lpstr>
      <vt:lpstr>Інструментальні засоби розробки</vt:lpstr>
      <vt:lpstr>Перелік сценаріїв використання програми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Man Man</cp:lastModifiedBy>
  <cp:revision>9</cp:revision>
  <dcterms:created xsi:type="dcterms:W3CDTF">2025-07-23T00:59:00Z</dcterms:created>
  <dcterms:modified xsi:type="dcterms:W3CDTF">2026-05-21T12:09:30Z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795D0348E9E8427EA1EEF740E9F70186_11</vt:lpwstr>
  </property>
  <property fmtid="{D5CDD505-2E9C-101B-9397-08002B2CF9AE}" pid="3" name="KSOProductBuildVer">
    <vt:lpwstr>1033-12.2.0.23202</vt:lpwstr>
  </property>
</Properties>
</file>